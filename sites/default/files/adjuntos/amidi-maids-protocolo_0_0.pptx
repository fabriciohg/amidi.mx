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80" r:id="rId2"/>
    <p:sldId id="257" r:id="rId3"/>
    <p:sldId id="282" r:id="rId4"/>
    <p:sldId id="281" r:id="rId5"/>
    <p:sldId id="283" r:id="rId6"/>
    <p:sldId id="284" r:id="rId7"/>
    <p:sldId id="285" r:id="rId8"/>
    <p:sldId id="286" r:id="rId9"/>
    <p:sldId id="287" r:id="rId10"/>
    <p:sldId id="288" r:id="rId11"/>
    <p:sldId id="289" r:id="rId12"/>
  </p:sldIdLst>
  <p:sldSz cx="12192000" cy="6858000"/>
  <p:notesSz cx="6858000" cy="9144000"/>
  <p:defaultTextStyle>
    <a:defPPr lvl="0">
      <a:defRPr lang="es-MX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briela Sánchez" initials="GS" lastIdx="8" clrIdx="0">
    <p:extLst>
      <p:ext uri="{19B8F6BF-5375-455C-9EA6-DF929625EA0E}">
        <p15:presenceInfo xmlns:p15="http://schemas.microsoft.com/office/powerpoint/2012/main" userId="Gabriela Sá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0048"/>
    <a:srgbClr val="D79638"/>
    <a:srgbClr val="B90048"/>
    <a:srgbClr val="00354C"/>
    <a:srgbClr val="971340"/>
    <a:srgbClr val="D69638"/>
    <a:srgbClr val="0B5D6C"/>
    <a:srgbClr val="005D6C"/>
    <a:srgbClr val="6B79C3"/>
    <a:srgbClr val="05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08"/>
    <p:restoredTop sz="88106" autoAdjust="0"/>
  </p:normalViewPr>
  <p:slideViewPr>
    <p:cSldViewPr snapToGrid="0" snapToObjects="1">
      <p:cViewPr>
        <p:scale>
          <a:sx n="101" d="100"/>
          <a:sy n="101" d="100"/>
        </p:scale>
        <p:origin x="125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859A6-573F-4FBE-B211-5DFD8E828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B8E5A3-380B-4D48-BF58-5D34FC596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80FE84-4D6A-42C0-B92D-F51440EA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DFD206-D6EB-4C55-BADC-EC567188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A9479C-96E7-4F43-93B4-4AD362F6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593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C15AB-50F4-43BE-A8B8-7AC4D031E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A1FFDA-7CC4-45E1-AEA5-CAF456561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6F2BB-A848-4889-8D75-3F7ED314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695031-C576-43DC-8581-F5DBEC4A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4B7498-7124-4292-A519-1F9BA115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701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01E18-F897-4201-BCBD-E093CADF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17764C-BDE7-4C90-A5F6-79F2A6D5D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18D703-EB7D-4254-A991-9B2B3D64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356CC-FDEA-4FC4-8608-5777B8B9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596C54-9E8D-4ED4-B952-89B4CCA9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80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09A30-8C28-4288-B6C2-3B9CD161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A813C4-67FF-43E3-B50C-3DC0AA684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D196F1-6E5A-499A-970C-A1C8B4212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671597-26CB-4BBD-89CA-68780139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15D766-B490-4DF4-AF84-FBD18E5C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786DF1-CABF-4096-926E-80350687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494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E2AD5-D0CF-4ECB-9E85-0083C3C2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91A919-22F6-4865-8363-EF332AE17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4A9CCC-750E-4615-8A65-768BD317F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BA96383-37E9-498A-8C4D-F88606AFB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5FB59F-8753-4C00-9301-ADF143959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431A0D-FD5C-474B-B6E8-EF7E11BF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0B431C-E966-4E26-8B1D-230FCE9D8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5CA63E-C72F-4E1A-BE99-EFE80F16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777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4DAE9-B084-44BD-94CA-51D5AD3E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A0F751-D995-4307-91B3-3B97A1E7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BA9152-D059-45D7-AFA0-11D749A8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8C499EA-1192-4732-959C-553659C0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1898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B4A898-26EF-4D61-8EC8-FD7CF3204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F4DC93-5579-4F20-946E-272F9416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65265E-1540-4FD0-8DB8-60FC1CC4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92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3C885-D22C-43AD-A349-7F5071D15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49C253-AE46-4C2B-84DB-D00F5E878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0E8579-D689-49E3-8844-DFC144559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441FCA-BFBD-42CF-B62E-02D2BE80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16C920-8D7E-43A4-9FD0-34DDF021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C44EA9-F11A-4A78-AE3A-8D9D50C6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0785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6F27B-8E6D-4565-814A-526F4602F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6516AA-CD44-4C3E-9A83-8008EA9C4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9BF82F-6950-48E4-B250-C76A4D06F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92A080-FA91-4DCE-A34D-A1906E463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E382D2-9D5C-400E-8E78-78DEB5803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050844-5AA3-4B05-A0ED-DD169975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3795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64822-BF79-464F-A30B-4AE1D453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AEA014-DF87-446B-B13A-42800BD3B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DAC48D-4016-4AFC-ACE0-FD7627BD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542BD8-784B-4716-A795-E51309D4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845CA9-F848-4E31-BB17-E4B562F2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194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8765B6-DED5-44C7-82F4-D60D27931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20204F-1384-41A9-8C33-937C5B91F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661D46-67C7-4164-B73C-9E3E9136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4881D5-705A-4848-95E3-72DF6EF9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55DDD8-3DFF-436C-B1A4-2B6B6587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777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CB6B92-720A-4422-8810-7B0D68BDC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AC7E85-DACE-472A-8EC5-F6F64CBAC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84D378-AA6C-4553-AB30-504D75E5F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51D7D-980C-4792-998D-00694865AC81}" type="datetimeFigureOut">
              <a:rPr lang="es-MX" smtClean="0"/>
              <a:t>23/07/22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6B7DC4-1836-4901-B419-5ABFBBCDE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03F362-F1ED-4811-A906-44E319917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D21F5-6819-42B2-8961-EB29E3C69C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938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1806524"/>
            <a:ext cx="1086678" cy="5051476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8520CD-0980-2A4B-ADB0-BA34C13D3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72" y="989916"/>
            <a:ext cx="3957157" cy="152544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0171A45-0C2B-064B-875B-3926AF30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404" y="5092100"/>
            <a:ext cx="723900" cy="58356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134C269-1D13-EE4A-A587-CFC62130523B}"/>
              </a:ext>
            </a:extLst>
          </p:cNvPr>
          <p:cNvSpPr txBox="1"/>
          <p:nvPr/>
        </p:nvSpPr>
        <p:spPr>
          <a:xfrm>
            <a:off x="7235258" y="5306333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RENIECYT </a:t>
            </a: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2200092</a:t>
            </a:r>
            <a:r>
              <a:rPr lang="es-MX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D6027C-8625-434B-B144-8906E7C72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498" y="926091"/>
            <a:ext cx="5521155" cy="165134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E0B9C8-1D8A-C346-AB0D-4AC538ADB209}"/>
              </a:ext>
            </a:extLst>
          </p:cNvPr>
          <p:cNvSpPr txBox="1"/>
          <p:nvPr/>
        </p:nvSpPr>
        <p:spPr>
          <a:xfrm>
            <a:off x="2925520" y="3656337"/>
            <a:ext cx="5185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PROTOCOLO DE INVESTIGACIÓN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37C0721-05A2-EB4B-9B7B-6892254D926F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E75CF7-267A-CA4B-92DE-57FE5946C880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CC2804C-66B5-7A44-AFEE-CFECA9FBF973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200C86D-D3A4-5243-A81E-098F76BFA28C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8E114BC-D38A-6D48-8E03-6B8212DB61F6}"/>
              </a:ext>
            </a:extLst>
          </p:cNvPr>
          <p:cNvSpPr/>
          <p:nvPr/>
        </p:nvSpPr>
        <p:spPr>
          <a:xfrm>
            <a:off x="11104504" y="377100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7FC63B9-FD37-B84F-83C6-82B032796900}"/>
              </a:ext>
            </a:extLst>
          </p:cNvPr>
          <p:cNvSpPr/>
          <p:nvPr/>
        </p:nvSpPr>
        <p:spPr>
          <a:xfrm>
            <a:off x="7208364" y="377100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B3386AD-611C-F64D-B353-67CA53B62FF0}"/>
              </a:ext>
            </a:extLst>
          </p:cNvPr>
          <p:cNvSpPr/>
          <p:nvPr/>
        </p:nvSpPr>
        <p:spPr>
          <a:xfrm>
            <a:off x="7208364" y="14514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48FB136-045A-4246-B503-723C0A90411F}"/>
              </a:ext>
            </a:extLst>
          </p:cNvPr>
          <p:cNvSpPr/>
          <p:nvPr/>
        </p:nvSpPr>
        <p:spPr>
          <a:xfrm>
            <a:off x="-818" y="14514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6173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5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graphicFrame>
        <p:nvGraphicFramePr>
          <p:cNvPr id="22" name="7 Tabla">
            <a:extLst>
              <a:ext uri="{FF2B5EF4-FFF2-40B4-BE49-F238E27FC236}">
                <a16:creationId xmlns:a16="http://schemas.microsoft.com/office/drawing/2014/main" id="{F42750C9-EF0D-D24D-AFA3-31A50336D8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574503"/>
              </p:ext>
            </p:extLst>
          </p:nvPr>
        </p:nvGraphicFramePr>
        <p:xfrm>
          <a:off x="1093327" y="1057054"/>
          <a:ext cx="10005346" cy="4458260"/>
        </p:xfrm>
        <a:graphic>
          <a:graphicData uri="http://schemas.openxmlformats.org/drawingml/2006/table">
            <a:tbl>
              <a:tblPr/>
              <a:tblGrid>
                <a:gridCol w="1456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503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PARTE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DESCRIPCIÓN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MANUSCRITO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Estilo de escritura (presentación ordenada de ideas, fluidez en la expresión). Ortografía y gramática; Puntuación y sangrías.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Encabezados y subtítulos; Uso de mayúsculas 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.Todas las referencias deberán estar insertas en el cuerpo del Protocolo. Documento 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Arial 12 / Interlineado 1 / Tamaño Carta / Márgenes 2.5</a:t>
                      </a:r>
                      <a:endParaRPr lang="es-MX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33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NOMBRE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Título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que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se relacione con alguna de las 3 líneas de investigación del DCA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de 15-20 palabras máximo</a:t>
                      </a:r>
                      <a:endParaRPr lang="es-MX" sz="1400" b="1" i="0" u="none" strike="noStrike" dirty="0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669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RESUMEN/ 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ABSTRACT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(200 PALABRAS MÁXIMO)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En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s-MX" sz="1400" b="1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Español e Inglés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. 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Incluye: LGAC a la que contribuye; Marco Contextual;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Marco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Teórico y </a:t>
                      </a:r>
                      <a:r>
                        <a:rPr lang="es-MX" sz="1400" b="1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Modelo propuesto de última generación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; 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Planteamiento del Problema con Pregunta de Investigación; Objetivos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; Hipótesis; Justificación sobre 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qué resuelve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y qué aporta a las Ciencias de la Administración;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Metodología que describa las técnicas matemáticas</a:t>
                      </a:r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de Estadística Inferencial Multivariante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 utilizar o el proceso de diseño propuesto a resolver la problemática; 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Resultados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esperados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; Discusión de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los Resultados Esperados;  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Conclusiones. Debe existir Congruencia Título-Problema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de Investigación-Conclusiones. Se debe caracterizar por ser: C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omprensible y Sencillo; Informativo, Preciso, Conciso; Palabras Clave.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416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INTRODUCCIÓN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Explicar por qué es importante la investigación o la propuesta de diseño, resaltando su contribución práctica y de conocimiento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836107"/>
                  </a:ext>
                </a:extLst>
              </a:tr>
              <a:tr h="660191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MARCO CONTEXTUAL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endParaRPr lang="es-MX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Como se encuentra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al momento el objeto de estudio proyectado en 3 niveles: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Mundial, Internacional y Nacional</a:t>
                      </a:r>
                      <a:endParaRPr lang="es-MX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ítulo 1">
            <a:extLst>
              <a:ext uri="{FF2B5EF4-FFF2-40B4-BE49-F238E27FC236}">
                <a16:creationId xmlns:a16="http://schemas.microsoft.com/office/drawing/2014/main" id="{D9CC69F7-E27A-1045-B205-21192FD8A222}"/>
              </a:ext>
            </a:extLst>
          </p:cNvPr>
          <p:cNvSpPr txBox="1">
            <a:spLocks/>
          </p:cNvSpPr>
          <p:nvPr/>
        </p:nvSpPr>
        <p:spPr>
          <a:xfrm>
            <a:off x="880044" y="14123"/>
            <a:ext cx="7649047" cy="68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231940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5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graphicFrame>
        <p:nvGraphicFramePr>
          <p:cNvPr id="15" name="3 Marcador de contenido">
            <a:extLst>
              <a:ext uri="{FF2B5EF4-FFF2-40B4-BE49-F238E27FC236}">
                <a16:creationId xmlns:a16="http://schemas.microsoft.com/office/drawing/2014/main" id="{45642830-09A3-E34F-BE9F-54D9B699BF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552865"/>
              </p:ext>
            </p:extLst>
          </p:nvPr>
        </p:nvGraphicFramePr>
        <p:xfrm>
          <a:off x="838201" y="1180607"/>
          <a:ext cx="10394092" cy="4064302"/>
        </p:xfrm>
        <a:graphic>
          <a:graphicData uri="http://schemas.openxmlformats.org/drawingml/2006/table">
            <a:tbl>
              <a:tblPr/>
              <a:tblGrid>
                <a:gridCol w="1939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2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PARTE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DESCRIPCIÓN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167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MARCO TEÓRICO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Describir brevemente 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cuál es el estado del arte del objeto de estudio; los modelos teóricos que se analizan y la relación con  su modelo conceptual propuesto, exponiendo factores, dimensiones, variables, indicadores a estudia. </a:t>
                      </a:r>
                    </a:p>
                    <a:p>
                      <a:pPr algn="just" fontAlgn="ctr"/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 Presentación de su Modelo Conceptual  General y Detallado </a:t>
                      </a:r>
                      <a:r>
                        <a:rPr lang="es-MX" sz="1400" b="1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ex ante </a:t>
                      </a:r>
                    </a:p>
                    <a:p>
                      <a:pPr algn="just" fontAlgn="ctr"/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 Presentación de Matriz  Metodológica de las Variables a estudiar</a:t>
                      </a:r>
                      <a:endParaRPr lang="es-MX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1298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PROBLEMA/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PREGUNTA DE INVESTIGACION/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OBJETIVOS/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HIPÓTESIS/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JUSTIFICACIÓN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 Problema. 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párrafo de Breve y conciso de 10-15 líneas que cierre con la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Pregunta General de Investigación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y sus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Preguntas Específicas.</a:t>
                      </a:r>
                    </a:p>
                    <a:p>
                      <a:pPr algn="just" fontAlgn="ctr"/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Planteamiento de Objetivo General y Objetivos Específicos.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Concretos,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específicos, medibles, alcanzables, relevantes, en tiempo,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congruentes al modelo conceptual</a:t>
                      </a:r>
                      <a:r>
                        <a:rPr lang="es-MX" sz="1400" b="1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ex ante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, que apoyen a resolver la Pregunta General y Específicas de investigación.</a:t>
                      </a:r>
                    </a:p>
                    <a:p>
                      <a:pPr algn="just" fontAlgn="ctr"/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 Hipótesis. 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Que sean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congruentes y se deriven directamente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de la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Metodología que describa las técnicas matemáticas  de Estadística Inferencial Multivariante a utilizar o el proceso de diseño propuesto a implementar</a:t>
                      </a:r>
                    </a:p>
                    <a:p>
                      <a:pPr marL="285750" indent="-285750" algn="just" fontAlgn="ctr">
                        <a:buFontTx/>
                        <a:buChar char="-"/>
                      </a:pP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Presentación Gráfica de sus Hipótesis de Trabajo</a:t>
                      </a:r>
                    </a:p>
                    <a:p>
                      <a:pPr marL="285750" indent="-285750" algn="just" fontAlgn="ctr">
                        <a:buFontTx/>
                        <a:buChar char="-"/>
                      </a:pP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Presentación de Matriz Metodológica</a:t>
                      </a:r>
                    </a:p>
                    <a:p>
                      <a:pPr marL="285750" indent="-285750" algn="just" fontAlgn="ctr">
                        <a:buFontTx/>
                        <a:buChar char="-"/>
                      </a:pP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Presentación de Matriz de Congruencia</a:t>
                      </a:r>
                    </a:p>
                    <a:p>
                      <a:pPr marL="285750" indent="-285750" algn="just" fontAlgn="ctr">
                        <a:buFontTx/>
                        <a:buChar char="-"/>
                      </a:pP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 Presentación de proceso de diseño a implementar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ítulo 1">
            <a:extLst>
              <a:ext uri="{FF2B5EF4-FFF2-40B4-BE49-F238E27FC236}">
                <a16:creationId xmlns:a16="http://schemas.microsoft.com/office/drawing/2014/main" id="{AB81E20C-5516-C545-9E05-AE84A3D50A81}"/>
              </a:ext>
            </a:extLst>
          </p:cNvPr>
          <p:cNvSpPr txBox="1">
            <a:spLocks/>
          </p:cNvSpPr>
          <p:nvPr/>
        </p:nvSpPr>
        <p:spPr>
          <a:xfrm>
            <a:off x="880044" y="14123"/>
            <a:ext cx="7649047" cy="68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68959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5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sp>
        <p:nvSpPr>
          <p:cNvPr id="21" name="Título 1">
            <a:extLst>
              <a:ext uri="{FF2B5EF4-FFF2-40B4-BE49-F238E27FC236}">
                <a16:creationId xmlns:a16="http://schemas.microsoft.com/office/drawing/2014/main" id="{C402E261-59C5-2F43-A97C-2AFB266EE7BD}"/>
              </a:ext>
            </a:extLst>
          </p:cNvPr>
          <p:cNvSpPr txBox="1">
            <a:spLocks/>
          </p:cNvSpPr>
          <p:nvPr/>
        </p:nvSpPr>
        <p:spPr>
          <a:xfrm>
            <a:off x="880044" y="14123"/>
            <a:ext cx="7649047" cy="68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de Investigación</a:t>
            </a:r>
          </a:p>
        </p:txBody>
      </p:sp>
      <p:graphicFrame>
        <p:nvGraphicFramePr>
          <p:cNvPr id="15" name="3 Marcador de contenido">
            <a:extLst>
              <a:ext uri="{FF2B5EF4-FFF2-40B4-BE49-F238E27FC236}">
                <a16:creationId xmlns:a16="http://schemas.microsoft.com/office/drawing/2014/main" id="{693EB2E7-ECFA-C24D-91D7-D5B0158816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0394169"/>
              </p:ext>
            </p:extLst>
          </p:nvPr>
        </p:nvGraphicFramePr>
        <p:xfrm>
          <a:off x="1271652" y="1025607"/>
          <a:ext cx="9833670" cy="4794960"/>
        </p:xfrm>
        <a:graphic>
          <a:graphicData uri="http://schemas.openxmlformats.org/drawingml/2006/table">
            <a:tbl>
              <a:tblPr/>
              <a:tblGrid>
                <a:gridCol w="1605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1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PARTE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DESCRIPCIÓN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64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RESULTADOS 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DISCUSIÓN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CONCLUSIONES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0" algn="just" defTabSz="798513" fontAlgn="ctr">
                        <a:tabLst>
                          <a:tab pos="7532688" algn="l"/>
                        </a:tabLst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Debe presentar Resultados esperados previendo limitaciones propias del estudio pero enfatizando lo que sí es capaz de entregar para la explicación de su modelo conceptual ex ante.</a:t>
                      </a:r>
                    </a:p>
                    <a:p>
                      <a:pPr marL="87313" indent="0"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Como la</a:t>
                      </a:r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Discusión 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parte  de resultados esperados y con argumentos basados en su marco teórico y metodología empleada, deberá mostrar congruencia en la explicación de su modelo conceptual ex ante, en tiempo modo indicativo condicional; hace disertación de las implicaciones de la investigación con respecto a la(s) hipótesis original(es); examina, califica los resultados y/o extrae inferencias de los mismos; enfatiza cualesquiera consecuencias teóricas de los resultados. Exponer las aportaciones en el campo del conocimiento o estado del arte (</a:t>
                      </a:r>
                      <a:r>
                        <a:rPr lang="es-MX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scientia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 y la práctica en el sujeto de estudio oestado de la cuestión (</a:t>
                      </a:r>
                      <a:r>
                        <a:rPr lang="es-MX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praxis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</a:p>
                    <a:p>
                      <a:pPr marL="174625" indent="0"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Como </a:t>
                      </a:r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Conclusión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establecer cómo se respondieron las preguntas de la investigación; menciona si se cumplirán los objetivos de la investigación; Sugiere mejorías para la propia investigación o propone nuevas investigaciones.</a:t>
                      </a:r>
                      <a:endParaRPr lang="es-MX" sz="1400" b="0" i="0" u="none" strike="noStrike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316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CRONOGRAMA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Hacer en Diagrama de Gantt la representación de actividades principales con especificación de los entregables, asumiendo los meses restantes de estancia en el programa y tomando de referencia N+X, donde N es el mes de inicio del posgrado</a:t>
                      </a:r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MAIDS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316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BIBLIOGRAFÍA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Proporcionar al menos </a:t>
                      </a:r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 referencias formato APA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. Estas deberán provenir de Bases de Datos Académicas y/o de Investigación. Incluye portales de Internet 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de prestigio reconocido  tanto de Gobierno como  Privadas.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 WIKI-No APÓCRIFAS</a:t>
                      </a:r>
                      <a:endParaRPr lang="es-MX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316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ANEXOS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Ayudan al lector a comprender, evaluar o replicar el estudio; ajustar a los lineamientos de presentación según su naturaleza (programa, mapas, figuras, tablas, gráficos o fotografías, instructivos o instrumentos, software).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512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5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graphicFrame>
        <p:nvGraphicFramePr>
          <p:cNvPr id="15" name="3 Marcador de contenido">
            <a:extLst>
              <a:ext uri="{FF2B5EF4-FFF2-40B4-BE49-F238E27FC236}">
                <a16:creationId xmlns:a16="http://schemas.microsoft.com/office/drawing/2014/main" id="{693EB2E7-ECFA-C24D-91D7-D5B0158816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1904212"/>
              </p:ext>
            </p:extLst>
          </p:nvPr>
        </p:nvGraphicFramePr>
        <p:xfrm>
          <a:off x="1179165" y="1199486"/>
          <a:ext cx="9833670" cy="4581600"/>
        </p:xfrm>
        <a:graphic>
          <a:graphicData uri="http://schemas.openxmlformats.org/drawingml/2006/table">
            <a:tbl>
              <a:tblPr/>
              <a:tblGrid>
                <a:gridCol w="1605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1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PARTE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DESCRIPCIÓN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64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RESULTADOS 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DISCUSIÓN</a:t>
                      </a:r>
                    </a:p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CONCLUSIONES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0" algn="just" defTabSz="798513" fontAlgn="ctr">
                        <a:tabLst>
                          <a:tab pos="7532688" algn="l"/>
                        </a:tabLst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Debe presentar Resultados esperados previendo limitaciones propias del estudio pero enfatizando lo que sí es capaz de entregar para la explicación de su modelo conceptual ex ante.</a:t>
                      </a:r>
                    </a:p>
                    <a:p>
                      <a:pPr marL="87313" indent="0"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Como la</a:t>
                      </a:r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Discusión 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parte  de resultados esperados y con argumentos basados en su marco teórico y metodología empleada, deberá mostrar congruencia en la explicación de su modelo conceptual ex ante, en tiempo modo indicativo condicional; hace disertación de las implicaciones de la investigación con respecto a la(s) hipótesis original(es); examina, califica los resultados y/o extrae inferencias de los mismos; enfatiza cualesquiera consecuencias teóricas de los resultados. Exponer las aportaciones en conocimiento (</a:t>
                      </a:r>
                      <a:r>
                        <a:rPr lang="es-MX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scientia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 y práctica (</a:t>
                      </a:r>
                      <a:r>
                        <a:rPr lang="es-MX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praxis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</a:p>
                    <a:p>
                      <a:pPr marL="174625" indent="0"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Como </a:t>
                      </a:r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Conclusión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establecer cómo se respondieron las preguntas de la investigación; menciona si se cumplirán los objetivos de la investigación; Sugiere mejorías para la propia investigación o propone nuevas investigaciones.</a:t>
                      </a:r>
                      <a:endParaRPr lang="es-MX" sz="1400" b="0" i="0" u="none" strike="noStrike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316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CRONOGRAMA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Hacer en Diagrama de Gantt la representación de actividades principales con especificación de los entregables, asumiendo los meses restantes de estancia en el programa y tomando de referencia N+X, donde N es el mes de inicio del posgrado</a:t>
                      </a:r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MAIDS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316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BIBLIOGRAFÍA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Proporcionar al menos </a:t>
                      </a:r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 referencias formato APA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. Estas deberán provenir de Bases de Datos Académicas y/o de Investigación. Incluye portales de Internet </a:t>
                      </a:r>
                      <a:r>
                        <a:rPr lang="es-MX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de prestigio reconocido  tanto de Gobierno como  Privadas. </a:t>
                      </a:r>
                      <a:r>
                        <a:rPr lang="es-MX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 WIKI-No APÓCRIFAS</a:t>
                      </a:r>
                      <a:endParaRPr lang="es-MX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316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ANEXOS</a:t>
                      </a:r>
                    </a:p>
                  </a:txBody>
                  <a:tcPr marL="6186" marR="6186" marT="618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Ayudan al lector a comprender, evaluar o replicar el estudio; ajustar a los lineamientos de presentación según su naturaleza (programa, mapas, figuras, tablas, gráficos o fotografías, instructivos o instrumentos, software).</a:t>
                      </a:r>
                    </a:p>
                  </a:txBody>
                  <a:tcPr marL="6186" marR="6186" marT="61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ítulo 1">
            <a:extLst>
              <a:ext uri="{FF2B5EF4-FFF2-40B4-BE49-F238E27FC236}">
                <a16:creationId xmlns:a16="http://schemas.microsoft.com/office/drawing/2014/main" id="{A74D77E5-F260-584C-AB9D-C1ECEECE60F1}"/>
              </a:ext>
            </a:extLst>
          </p:cNvPr>
          <p:cNvSpPr txBox="1">
            <a:spLocks/>
          </p:cNvSpPr>
          <p:nvPr/>
        </p:nvSpPr>
        <p:spPr>
          <a:xfrm>
            <a:off x="880044" y="14123"/>
            <a:ext cx="7649047" cy="68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728156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5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A74D77E5-F260-584C-AB9D-C1ECEECE60F1}"/>
              </a:ext>
            </a:extLst>
          </p:cNvPr>
          <p:cNvSpPr txBox="1">
            <a:spLocks/>
          </p:cNvSpPr>
          <p:nvPr/>
        </p:nvSpPr>
        <p:spPr>
          <a:xfrm>
            <a:off x="880044" y="-35126"/>
            <a:ext cx="7649047" cy="68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Ej. Modelo Conceptual ex ante</a:t>
            </a: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CB441ECA-D8A5-E54B-8A94-0F1EEA74F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1508218"/>
            <a:ext cx="7105650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6468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5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A74D77E5-F260-584C-AB9D-C1ECEECE60F1}"/>
              </a:ext>
            </a:extLst>
          </p:cNvPr>
          <p:cNvSpPr txBox="1">
            <a:spLocks/>
          </p:cNvSpPr>
          <p:nvPr/>
        </p:nvSpPr>
        <p:spPr>
          <a:xfrm>
            <a:off x="880044" y="71059"/>
            <a:ext cx="7649047" cy="68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Ej. Modelo Conceptual ex ante</a:t>
            </a:r>
          </a:p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detallado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F29A902-8498-2345-BEF5-F872191FA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124" y="870547"/>
            <a:ext cx="4547287" cy="5201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4335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5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A74D77E5-F260-584C-AB9D-C1ECEECE60F1}"/>
              </a:ext>
            </a:extLst>
          </p:cNvPr>
          <p:cNvSpPr txBox="1">
            <a:spLocks/>
          </p:cNvSpPr>
          <p:nvPr/>
        </p:nvSpPr>
        <p:spPr>
          <a:xfrm>
            <a:off x="880044" y="0"/>
            <a:ext cx="7649047" cy="68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Ej. HIPÓTESIS DE TRABAJO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3488BA4E-2C2F-6043-B76D-F2CCAB0EA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801" y="819205"/>
            <a:ext cx="5624723" cy="528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6559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5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A74D77E5-F260-584C-AB9D-C1ECEECE60F1}"/>
              </a:ext>
            </a:extLst>
          </p:cNvPr>
          <p:cNvSpPr txBox="1">
            <a:spLocks/>
          </p:cNvSpPr>
          <p:nvPr/>
        </p:nvSpPr>
        <p:spPr>
          <a:xfrm>
            <a:off x="880044" y="0"/>
            <a:ext cx="7649047" cy="68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Ej. METODOLOGIA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81A3AB1-87E1-7D42-9DE5-F57C12764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316" y="849232"/>
            <a:ext cx="4855933" cy="591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239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5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A74D77E5-F260-584C-AB9D-C1ECEECE60F1}"/>
              </a:ext>
            </a:extLst>
          </p:cNvPr>
          <p:cNvSpPr txBox="1">
            <a:spLocks/>
          </p:cNvSpPr>
          <p:nvPr/>
        </p:nvSpPr>
        <p:spPr>
          <a:xfrm>
            <a:off x="880044" y="-50800"/>
            <a:ext cx="7649047" cy="68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Ej. MATRIZ DE CONGRUENCIA</a:t>
            </a: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4B895A6B-505F-194C-97FC-DE852C27FA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74"/>
          <a:stretch/>
        </p:blipFill>
        <p:spPr bwMode="auto">
          <a:xfrm>
            <a:off x="1647782" y="876539"/>
            <a:ext cx="6257135" cy="5284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4074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EE992FA-2C6F-4E67-AAD0-7E6F54822DE8}"/>
              </a:ext>
            </a:extLst>
          </p:cNvPr>
          <p:cNvSpPr/>
          <p:nvPr/>
        </p:nvSpPr>
        <p:spPr>
          <a:xfrm>
            <a:off x="11105322" y="6490302"/>
            <a:ext cx="1086678" cy="367698"/>
          </a:xfrm>
          <a:prstGeom prst="rect">
            <a:avLst/>
          </a:prstGeom>
          <a:solidFill>
            <a:srgbClr val="D69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202BB0-882D-4C35-9ACC-86C373C76AB1}"/>
              </a:ext>
            </a:extLst>
          </p:cNvPr>
          <p:cNvSpPr/>
          <p:nvPr/>
        </p:nvSpPr>
        <p:spPr>
          <a:xfrm>
            <a:off x="7209182" y="6490302"/>
            <a:ext cx="3896140" cy="367698"/>
          </a:xfrm>
          <a:prstGeom prst="rect">
            <a:avLst/>
          </a:prstGeom>
          <a:solidFill>
            <a:srgbClr val="B8004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C82BD2-CF46-4F61-9ABD-C26B5677EC6C}"/>
              </a:ext>
            </a:extLst>
          </p:cNvPr>
          <p:cNvSpPr/>
          <p:nvPr/>
        </p:nvSpPr>
        <p:spPr>
          <a:xfrm>
            <a:off x="7209182" y="6127716"/>
            <a:ext cx="4982818" cy="362586"/>
          </a:xfrm>
          <a:prstGeom prst="rect">
            <a:avLst/>
          </a:prstGeom>
          <a:solidFill>
            <a:srgbClr val="005D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FE9084-A0D9-4E1F-AB54-1E448B717DA6}"/>
              </a:ext>
            </a:extLst>
          </p:cNvPr>
          <p:cNvSpPr/>
          <p:nvPr/>
        </p:nvSpPr>
        <p:spPr>
          <a:xfrm>
            <a:off x="0" y="6127716"/>
            <a:ext cx="7209182" cy="730284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6C328B-196A-4540-890A-7A7E0DD264E2}"/>
              </a:ext>
            </a:extLst>
          </p:cNvPr>
          <p:cNvSpPr/>
          <p:nvPr/>
        </p:nvSpPr>
        <p:spPr>
          <a:xfrm>
            <a:off x="7179250" y="-8716"/>
            <a:ext cx="346229" cy="819205"/>
          </a:xfrm>
          <a:prstGeom prst="rect">
            <a:avLst/>
          </a:prstGeom>
          <a:solidFill>
            <a:srgbClr val="97134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D9090A-34A6-480B-9C57-B48E712C01D3}"/>
              </a:ext>
            </a:extLst>
          </p:cNvPr>
          <p:cNvSpPr/>
          <p:nvPr/>
        </p:nvSpPr>
        <p:spPr>
          <a:xfrm>
            <a:off x="0" y="2554"/>
            <a:ext cx="7209182" cy="807935"/>
          </a:xfrm>
          <a:prstGeom prst="rect">
            <a:avLst/>
          </a:prstGeom>
          <a:solidFill>
            <a:srgbClr val="0035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2A3796-83E2-9143-9403-CE2AB67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61"/>
            <a:ext cx="2199952" cy="84806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DD80E02-4797-B44C-8910-237337F36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17" y="32780"/>
            <a:ext cx="3069445" cy="91805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A74D77E5-F260-584C-AB9D-C1ECEECE60F1}"/>
              </a:ext>
            </a:extLst>
          </p:cNvPr>
          <p:cNvSpPr txBox="1">
            <a:spLocks/>
          </p:cNvSpPr>
          <p:nvPr/>
        </p:nvSpPr>
        <p:spPr>
          <a:xfrm>
            <a:off x="880044" y="-50799"/>
            <a:ext cx="7649047" cy="7481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Ej. MATRIZ METODOLÓGICA</a:t>
            </a:r>
          </a:p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UNA VARIABLE</a:t>
            </a: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4B895A6B-505F-194C-97FC-DE852C27FA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74"/>
          <a:stretch/>
        </p:blipFill>
        <p:spPr bwMode="auto">
          <a:xfrm>
            <a:off x="1647782" y="876539"/>
            <a:ext cx="6257135" cy="5284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5365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1074</Words>
  <Application>Microsoft Macintosh PowerPoint</Application>
  <PresentationFormat>Panorámica</PresentationFormat>
  <Paragraphs>74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Hewllet-Packard</dc:creator>
  <cp:lastModifiedBy>Juan Mejia Trejo</cp:lastModifiedBy>
  <cp:revision>138</cp:revision>
  <dcterms:modified xsi:type="dcterms:W3CDTF">2022-07-23T17:53:54Z</dcterms:modified>
</cp:coreProperties>
</file>